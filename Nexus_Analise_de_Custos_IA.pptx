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22915abe8c4912" /><Relationship Type="http://schemas.openxmlformats.org/officeDocument/2006/relationships/extended-properties" Target="/docProps/app.xml" Id="Rd12257925c894408" /><Relationship Type="http://schemas.openxmlformats.org/officeDocument/2006/relationships/officeDocument" Target="/ppt/presentation.xml" Id="Rd375bba3ba5e4e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a867ec9df54d61"/>
  </p:sldMasterIdLst>
  <p:notesMasterIdLst>
    <p:notesMasterId xmlns:r="http://schemas.openxmlformats.org/officeDocument/2006/relationships" r:id="R985ce7dfde974e53"/>
  </p:notesMasterIdLst>
  <p:sldIdLst>
    <p:sldId xmlns:r="http://schemas.openxmlformats.org/officeDocument/2006/relationships" id="256" r:id="Re8d802aabe1e433a"/>
    <p:sldId xmlns:r="http://schemas.openxmlformats.org/officeDocument/2006/relationships" id="257" r:id="R607a120db8e74e5e"/>
    <p:sldId xmlns:r="http://schemas.openxmlformats.org/officeDocument/2006/relationships" id="258" r:id="R63b6a79d577c48a4"/>
    <p:sldId xmlns:r="http://schemas.openxmlformats.org/officeDocument/2006/relationships" id="259" r:id="R94ccbba166a14b28"/>
    <p:sldId xmlns:r="http://schemas.openxmlformats.org/officeDocument/2006/relationships" id="260" r:id="Rfb0f74c5ee734ca3"/>
    <p:sldId xmlns:r="http://schemas.openxmlformats.org/officeDocument/2006/relationships" id="261" r:id="R26fbefd5f5e24f6e"/>
    <p:sldId xmlns:r="http://schemas.openxmlformats.org/officeDocument/2006/relationships" id="262" r:id="R620fe80321c245e8"/>
    <p:sldId xmlns:r="http://schemas.openxmlformats.org/officeDocument/2006/relationships" id="263" r:id="Ra6cb9321e1e64c04"/>
    <p:sldId xmlns:r="http://schemas.openxmlformats.org/officeDocument/2006/relationships" id="264" r:id="Rd28f0ee4446842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552aa5a4ad4c14" /><Relationship Type="http://schemas.openxmlformats.org/officeDocument/2006/relationships/slideMaster" Target="/ppt/slideMasters/slideMaster1.xml" Id="R6aa867ec9df54d61" /><Relationship Type="http://schemas.openxmlformats.org/officeDocument/2006/relationships/notesMaster" Target="/ppt/notesMasters/notesMaster1.xml" Id="R985ce7dfde974e53" /><Relationship Type="http://schemas.openxmlformats.org/officeDocument/2006/relationships/presProps" Target="/ppt/presProps.xml" Id="Rc8ebfd2a611541de" /><Relationship Type="http://schemas.openxmlformats.org/officeDocument/2006/relationships/tableStyles" Target="/ppt/tableStyles.xml" Id="Rcf9be3ce5f4742e6" /><Relationship Type="http://schemas.openxmlformats.org/officeDocument/2006/relationships/slide" Target="/ppt/slides/slide1.xml" Id="Re8d802aabe1e433a" /><Relationship Type="http://schemas.openxmlformats.org/officeDocument/2006/relationships/slide" Target="/ppt/slides/slide2.xml" Id="R607a120db8e74e5e" /><Relationship Type="http://schemas.openxmlformats.org/officeDocument/2006/relationships/slide" Target="/ppt/slides/slide3.xml" Id="R63b6a79d577c48a4" /><Relationship Type="http://schemas.openxmlformats.org/officeDocument/2006/relationships/slide" Target="/ppt/slides/slide4.xml" Id="R94ccbba166a14b28" /><Relationship Type="http://schemas.openxmlformats.org/officeDocument/2006/relationships/slide" Target="/ppt/slides/slide5.xml" Id="Rfb0f74c5ee734ca3" /><Relationship Type="http://schemas.openxmlformats.org/officeDocument/2006/relationships/slide" Target="/ppt/slides/slide6.xml" Id="R26fbefd5f5e24f6e" /><Relationship Type="http://schemas.openxmlformats.org/officeDocument/2006/relationships/slide" Target="/ppt/slides/slide7.xml" Id="R620fe80321c245e8" /><Relationship Type="http://schemas.openxmlformats.org/officeDocument/2006/relationships/slide" Target="/ppt/slides/slide8.xml" Id="Ra6cb9321e1e64c04" /><Relationship Type="http://schemas.openxmlformats.org/officeDocument/2006/relationships/slide" Target="/ppt/slides/slide9.xml" Id="Rd28f0ee4446842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8e9bc0166041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79c91cdf684ffe" /><Relationship Type="http://schemas.openxmlformats.org/officeDocument/2006/relationships/notesMaster" Target="/ppt/notesMasters/notesMaster1.xml" Id="Rcfcb4d10c57749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e8762e59484761" /><Relationship Type="http://schemas.openxmlformats.org/officeDocument/2006/relationships/notesMaster" Target="/ppt/notesMasters/notesMaster1.xml" Id="R01ac3ee6ee664c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b795a4a8e14fa1" /><Relationship Type="http://schemas.openxmlformats.org/officeDocument/2006/relationships/notesMaster" Target="/ppt/notesMasters/notesMaster1.xml" Id="Re45789a0316d45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d40511b40d4bae" /><Relationship Type="http://schemas.openxmlformats.org/officeDocument/2006/relationships/notesMaster" Target="/ppt/notesMasters/notesMaster1.xml" Id="Rdf0cab7f888a42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4708009b5c4b3d" /><Relationship Type="http://schemas.openxmlformats.org/officeDocument/2006/relationships/notesMaster" Target="/ppt/notesMasters/notesMaster1.xml" Id="R98f1d1fedcfa4a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2f951cceab4710" /><Relationship Type="http://schemas.openxmlformats.org/officeDocument/2006/relationships/notesMaster" Target="/ppt/notesMasters/notesMaster1.xml" Id="Rf4f632097c8341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7a0b2682b14f8f" /><Relationship Type="http://schemas.openxmlformats.org/officeDocument/2006/relationships/notesMaster" Target="/ppt/notesMasters/notesMaster1.xml" Id="R37441561e69543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e5c42f944543d4" /><Relationship Type="http://schemas.openxmlformats.org/officeDocument/2006/relationships/notesMaster" Target="/ppt/notesMasters/notesMaster1.xml" Id="R8ca5ce40539b44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eed3967db447a5" /><Relationship Type="http://schemas.openxmlformats.org/officeDocument/2006/relationships/notesMaster" Target="/ppt/notesMasters/notesMaster1.xml" Id="Re7852d98ed6d42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Análise interna Nexus, consolidada em 25/08/2026.</a:t>
            </a:r>
          </a:p>
          <a:p xmlns:a="http://schemas.openxmlformats.org/drawingml/2006/main">
            <a:r>
              <a:t>- Todos os valores futuros são estimativas de cenário, não faturas.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Relatório interno Nexus PostgreSQL, período 01/08/2026 a 25/08/2026.</a:t>
            </a:r>
          </a:p>
          <a:p xmlns:a="http://schemas.openxmlformats.org/drawingml/2006/main">
            <a:r>
              <a:t>- Totais: 76 turnos, 473 chamadas, 2.923.941 tokens de entrada, 181.626 de saída e 109 erros.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Premissa interna de planejamento: 30 usuários, 22 dias úteis e 3 solicitações por usuário/dia.</a:t>
            </a:r>
          </a:p>
          <a:p xmlns:a="http://schemas.openxmlformats.org/drawingml/2006/main">
            <a:r>
              <a:t>- Mix fornecido: 50% web/texto, 35% tool calling e 15% imagens.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Relatório interno Nexus: média histórica aproximada de 38.473 tokens de entrada e 2.390 de saída por turno.</a:t>
            </a:r>
          </a:p>
          <a:p xmlns:a="http://schemas.openxmlformats.org/drawingml/2006/main">
            <a:r>
              <a:t>- A decomposição do fluxo reflete a arquitetura Nexus: generalista, roteador, tools, validação e fallback.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 interno de custos com câmbio USD/BRL 5,1625 e preços configurados em config/ai-pricing.json.</a:t>
            </a:r>
          </a:p>
          <a:p xmlns:a="http://schemas.openxmlformats.org/drawingml/2006/main">
            <a:r>
              <a:t>- Anthropic pricing: https://docs.anthropic.com/en/docs/about-claude/pricing</a:t>
            </a:r>
          </a:p>
          <a:p xmlns:a="http://schemas.openxmlformats.org/drawingml/2006/main">
            <a:r>
              <a:t>- Google Gemini pricing: https://ai.google.dev/gemini-api/docs/pricing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Cenário interno de estresse: 30 usuários, 10 solicitações/dia, 22 dias úteis.</a:t>
            </a:r>
          </a:p>
          <a:p xmlns:a="http://schemas.openxmlformats.org/drawingml/2006/main">
            <a:r>
              <a:t>- Anthropic pricing: https://docs.anthropic.com/en/docs/about-claude/pricing</a:t>
            </a:r>
          </a:p>
          <a:p xmlns:a="http://schemas.openxmlformats.org/drawingml/2006/main">
            <a:r>
              <a:t>- Google Gemini pricing: https://ai.google.dev/gemini-api/docs/pricing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Arquitetura recomendada com base na governança e no roteador Nexus existentes.</a:t>
            </a:r>
          </a:p>
          <a:p xmlns:a="http://schemas.openxmlformats.org/drawingml/2006/main">
            <a:r>
              <a:t>- Google Gemini pricing and paid-tier data policy: https://ai.google.dev/gemini-api/docs/pricing</a:t>
            </a:r>
          </a:p>
          <a:p xmlns:a="http://schemas.openxmlformats.org/drawingml/2006/main">
            <a:r>
              <a:t>- Anthropic pricing: https://docs.anthropic.com/en/docs/about-claude/pricing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RTX 5090 Brazil price reference: https://www.hardwarebarato.com/produtos/placas-de-video/rtx-5090</a:t>
            </a:r>
          </a:p>
          <a:p xmlns:a="http://schemas.openxmlformats.org/drawingml/2006/main">
            <a:r>
              <a:t>- NVIDIA RTX PRO 6000 96 GB: https://www.nvidia.com/pt-br/products/workstations/professional-desktop-gpus/rtx-pro-6000/</a:t>
            </a:r>
          </a:p>
          <a:p xmlns:a="http://schemas.openxmlformats.org/drawingml/2006/main">
            <a:r>
              <a:t>- Ollama Qwen 3.5 model sizes: https://ollama.com/library/qwen3.5/tags</a:t>
            </a:r>
          </a:p>
          <a:p xmlns:a="http://schemas.openxmlformats.org/drawingml/2006/main">
            <a:r>
              <a:t>- Server total cost is an internal estimate and excludes maintenance, engineering labor and downtime.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Recomendação interna baseada nos cenários e dados apresentados neste deck.</a:t>
            </a:r>
          </a:p>
          <a:p xmlns:a="http://schemas.openxmlformats.org/drawingml/2006/main">
            <a:r>
              <a:t>- O orçamento não inclui Railway, impostos, engenharia ou integrações futuras.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6ae1c7c054e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3883bd57804193" /><Relationship Type="http://schemas.openxmlformats.org/officeDocument/2006/relationships/slideLayout" Target="/ppt/slideLayouts/slideLayout1.xml" Id="Rc06c0c58975e4f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6c0c58975e4f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dc1c7bb50498e" /><Relationship Type="http://schemas.openxmlformats.org/officeDocument/2006/relationships/notesSlide" Target="/ppt/notesSlides/notesSlide1.xml" Id="Rd220c4cdd5394f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254447bc548a9" /><Relationship Type="http://schemas.openxmlformats.org/officeDocument/2006/relationships/notesSlide" Target="/ppt/notesSlides/notesSlide2.xml" Id="Rea5d0325caa640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ea51aa30f47b7" /><Relationship Type="http://schemas.openxmlformats.org/officeDocument/2006/relationships/chart" Target="/ppt/slides/charts/chart1.xml" Id="R3e8ca5f2769b4b1c" /><Relationship Type="http://schemas.openxmlformats.org/officeDocument/2006/relationships/notesSlide" Target="/ppt/notesSlides/notesSlide3.xml" Id="R6c4cd15f05d943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a7b711ea64ffc" /><Relationship Type="http://schemas.openxmlformats.org/officeDocument/2006/relationships/notesSlide" Target="/ppt/notesSlides/notesSlide4.xml" Id="R7618ffa9ac7c49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a1f9cbcf34a1d" /><Relationship Type="http://schemas.openxmlformats.org/officeDocument/2006/relationships/chart" Target="/ppt/slides/charts/chart2.xml" Id="R574888e9fe8f41c1" /><Relationship Type="http://schemas.openxmlformats.org/officeDocument/2006/relationships/notesSlide" Target="/ppt/notesSlides/notesSlide5.xml" Id="Rbf0c25178c5a4d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da0a202944827" /><Relationship Type="http://schemas.openxmlformats.org/officeDocument/2006/relationships/chart" Target="/ppt/slides/charts/chart3.xml" Id="Rafbaefb6f39c47bd" /><Relationship Type="http://schemas.openxmlformats.org/officeDocument/2006/relationships/notesSlide" Target="/ppt/notesSlides/notesSlide6.xml" Id="R926d0c99f43c43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769d44b314962" /><Relationship Type="http://schemas.openxmlformats.org/officeDocument/2006/relationships/notesSlide" Target="/ppt/notesSlides/notesSlide7.xml" Id="Rafec01b49eee4c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1074c08fe442b" /><Relationship Type="http://schemas.openxmlformats.org/officeDocument/2006/relationships/chart" Target="/ppt/slides/charts/chart4.xml" Id="Rb12f71e673ca444b" /><Relationship Type="http://schemas.openxmlformats.org/officeDocument/2006/relationships/notesSlide" Target="/ppt/notesSlides/notesSlide8.xml" Id="R5ff462dddd6a4b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8cfd8e06140c5" /><Relationship Type="http://schemas.openxmlformats.org/officeDocument/2006/relationships/notesSlide" Target="/ppt/notesSlides/notesSlide9.xml" Id="Rf039537febe64de9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42FF9B"/>
              </a:solidFill>
            </c:spPr>
          </c:dPt>
          <c:dPt>
            <c:idx val="1"/>
            <c:spPr>
              <a:solidFill xmlns:a="http://schemas.openxmlformats.org/drawingml/2006/main">
                <a:srgbClr val="1D8E5B"/>
              </a:solidFill>
            </c:spPr>
          </c:dPt>
          <c:dPt>
            <c:idx val="2"/>
            <c:spPr>
              <a:solidFill xmlns:a="http://schemas.openxmlformats.org/drawingml/2006/main">
                <a:srgbClr val="F5C66B"/>
              </a:solidFill>
            </c:spPr>
          </c:dPt>
          <c:cat>
            <c:strLit>
              <c:ptCount val="3"/>
              <c:pt idx="0">
                <c:v>Web e texto</c:v>
              </c:pt>
              <c:pt idx="1">
                <c:v>Tools corporativas</c:v>
              </c:pt>
              <c:pt idx="2">
                <c:v>Imagens</c:v>
              </c:pt>
            </c:strLit>
          </c:cat>
          <c:val>
            <c:numLit>
              <c:formatCode>General</c:formatCode>
              <c:ptCount val="3"/>
              <c:pt idx="0">
                <c:v>50</c:v>
              </c:pt>
              <c:pt idx="1">
                <c:v>35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F2F7F4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60"/>
        <c:holeSize val="64"/>
      </c:doughnutChart>
      <c:spPr>
        <a:solidFill xmlns:a="http://schemas.openxmlformats.org/drawingml/2006/main">
          <a:srgbClr val="070B09"/>
        </a:solidFill>
        <a:ln xmlns:a="http://schemas.openxmlformats.org/drawingml/2006/main" w="0">
          <a:solidFill>
            <a:srgbClr val="070B09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91A69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0B09"/>
    </a:solidFill>
    <a:ln xmlns:a="http://schemas.openxmlformats.org/drawingml/2006/main" w="0">
      <a:solidFill>
        <a:srgbClr val="070B09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Claude predominante</c:v>
          </c:tx>
          <c:spPr>
            <a:solidFill xmlns:a="http://schemas.openxmlformats.org/drawingml/2006/main">
              <a:srgbClr val="52665B"/>
            </a:solidFill>
          </c:spPr>
          <c:cat>
            <c:strLit>
              <c:ptCount val="2"/>
              <c:pt idx="0">
                <c:v>Provável</c:v>
              </c:pt>
              <c:pt idx="1">
                <c:v>Pessimista</c:v>
              </c:pt>
            </c:strLit>
          </c:cat>
          <c:val>
            <c:numLit>
              <c:formatCode>R$ #,##0</c:formatCode>
              <c:ptCount val="2"/>
              <c:pt idx="0">
                <c:v>744</c:v>
              </c:pt>
              <c:pt idx="1">
                <c:v>1610</c:v>
              </c:pt>
            </c:numLit>
          </c:val>
        </c:ser>
        <c:ser>
          <c:idx val="1"/>
          <c:order val="1"/>
          <c:tx>
            <c:v>Gemini + Claude</c:v>
          </c:tx>
          <c:spPr>
            <a:solidFill xmlns:a="http://schemas.openxmlformats.org/drawingml/2006/main">
              <a:srgbClr val="42FF9B"/>
            </a:solidFill>
          </c:spPr>
          <c:cat>
            <c:strLit>
              <c:ptCount val="2"/>
              <c:pt idx="0">
                <c:v>Provável</c:v>
              </c:pt>
              <c:pt idx="1">
                <c:v>Pessimista</c:v>
              </c:pt>
            </c:strLit>
          </c:cat>
          <c:val>
            <c:numLit>
              <c:formatCode>R$ #,##0</c:formatCode>
              <c:ptCount val="2"/>
              <c:pt idx="0">
                <c:v>575</c:v>
              </c:pt>
              <c:pt idx="1">
                <c:v>670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F2F7F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03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2F7F4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8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035"/>
              </a:solidFill>
              <a:prstDash val="solid"/>
            </a:ln>
          </c:spPr>
        </c:majorGridlines>
        <c:numFmt formatCode="R$ 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69B"/>
                </a:solidFill>
              </a:defRPr>
            </a:pPr>
          </a:p>
        </c:txPr>
        <c:crossAx val="48650112"/>
        <c:crossBetween val="between"/>
        <c:majorUnit val="300"/>
      </c:valAx>
      <c:spPr>
        <a:solidFill xmlns:a="http://schemas.openxmlformats.org/drawingml/2006/main">
          <a:srgbClr val="070B09"/>
        </a:solidFill>
        <a:ln xmlns:a="http://schemas.openxmlformats.org/drawingml/2006/main" w="0">
          <a:solidFill>
            <a:srgbClr val="070B09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91A69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0B09"/>
    </a:solidFill>
    <a:ln xmlns:a="http://schemas.openxmlformats.org/drawingml/2006/main" w="0">
      <a:solidFill>
        <a:srgbClr val="070B09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Custo mensal</c:v>
          </c:tx>
          <c:dPt>
            <c:idx val="0"/>
            <c:invertIfNegative val="0"/>
            <c:spPr>
              <a:solidFill xmlns:a="http://schemas.openxmlformats.org/drawingml/2006/main">
                <a:srgbClr val="42FF9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7B8D"/>
              </a:solidFill>
            </c:spPr>
          </c:dPt>
          <c:cat>
            <c:strLit>
              <c:ptCount val="2"/>
              <c:pt idx="0">
                <c:v>Gemini + Claude</c:v>
              </c:pt>
              <c:pt idx="1">
                <c:v>Claude predominante</c:v>
              </c:pt>
            </c:strLit>
          </c:cat>
          <c:val>
            <c:numLit>
              <c:formatCode>General</c:formatCode>
              <c:ptCount val="2"/>
              <c:pt idx="0">
                <c:v>3250</c:v>
              </c:pt>
              <c:pt idx="1">
                <c:v>5500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F2F7F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035"/>
              </a:solidFill>
              <a:prstDash val="solid"/>
            </a:ln>
          </c:spPr>
        </c:majorGridlines>
        <c:numFmt formatCode="R$ 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69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03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2F7F4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0B09"/>
        </a:solidFill>
        <a:ln xmlns:a="http://schemas.openxmlformats.org/drawingml/2006/main" w="0">
          <a:solidFill>
            <a:srgbClr val="070B09"/>
          </a:solidFill>
          <a:prstDash val="solid"/>
        </a:ln>
      </c:spPr>
    </c:plotArea>
    <c:plotVisOnly val="1"/>
  </c:chart>
  <c:spPr>
    <a:solidFill xmlns:a="http://schemas.openxmlformats.org/drawingml/2006/main">
      <a:srgbClr val="070B09"/>
    </a:solidFill>
    <a:ln xmlns:a="http://schemas.openxmlformats.org/drawingml/2006/main" w="0">
      <a:solidFill>
        <a:srgbClr val="070B09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Custo mensal equivalente</c:v>
          </c:tx>
          <c:dPt>
            <c:idx val="0"/>
            <c:invertIfNegative val="0"/>
            <c:spPr>
              <a:solidFill xmlns:a="http://schemas.openxmlformats.org/drawingml/2006/main">
                <a:srgbClr val="42FF9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5C66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F7B8D"/>
              </a:solidFill>
            </c:spPr>
          </c:dPt>
          <c:cat>
            <c:strLit>
              <c:ptCount val="3"/>
              <c:pt idx="0">
                <c:v>API híbrida provável</c:v>
              </c:pt>
              <c:pt idx="1">
                <c:v>Servidor local</c:v>
              </c:pt>
              <c:pt idx="2">
                <c:v>API híbrida — pior caso</c:v>
              </c:pt>
            </c:strLit>
          </c:cat>
          <c:val>
            <c:numLit>
              <c:formatCode>General</c:formatCode>
              <c:ptCount val="3"/>
              <c:pt idx="0">
                <c:v>575</c:v>
              </c:pt>
              <c:pt idx="1">
                <c:v>1405</c:v>
              </c:pt>
              <c:pt idx="2">
                <c:v>3250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2F7F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035"/>
              </a:solidFill>
              <a:prstDash val="solid"/>
            </a:ln>
          </c:spPr>
        </c:majorGridlines>
        <c:numFmt formatCode="R$ 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69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03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2F7F4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0B09"/>
        </a:solidFill>
        <a:ln xmlns:a="http://schemas.openxmlformats.org/drawingml/2006/main" w="0">
          <a:solidFill>
            <a:srgbClr val="070B09"/>
          </a:solidFill>
          <a:prstDash val="solid"/>
        </a:ln>
      </c:spPr>
    </c:plotArea>
    <c:plotVisOnly val="1"/>
  </c:chart>
  <c:spPr>
    <a:solidFill xmlns:a="http://schemas.openxmlformats.org/drawingml/2006/main">
      <a:srgbClr val="070B09"/>
    </a:solidFill>
    <a:ln xmlns:a="http://schemas.openxmlformats.org/drawingml/2006/main" w="0">
      <a:solidFill>
        <a:srgbClr val="070B09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D43CB-8E6F-4488-9A97-1554CDA0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F84DA-B046-4D51-97E1-6296D5C9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NEXUS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BCC42C80-B30D-4D47-A942-2F284B31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Custo e estratégia</a:t>
            </a:r>
          </a:p>
          <a:p xmlns:a="http://schemas.openxmlformats.org/drawingml/2006/main">
            <a:pPr algn="l">
              <a:defRPr sz="51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de IA do Nexus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FCDB2-B785-47EC-A3EE-5E0EF9C8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Projeção para 30 usuários ativos, com cenários provável, pessimista e de alto volume.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EDC00-C2C6-42B9-A16C-AAB64EDE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8DABC-62D4-43BA-93A3-28604406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Base real: Hub + CLI  •  Agosto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7E9EE-ABA2-4762-B6D1-F7364A8D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Material para decisão executiva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0FD7F-7B84-4B7D-B8C8-07A77B79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245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23D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3D2A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</p:spTree>
    <p:extLst>
      <p:ext uri="{BB962C8B-B14F-4D97-AF65-F5344CB8AC3E}">
        <p14:creationId xmlns:p14="http://schemas.microsoft.com/office/powerpoint/2010/main" val="18732197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9114E-790D-4A60-A7E0-84F7D1F3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F87C2-3926-455A-8220-8E741AA2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NEXUS  //  INTELIGÊNCIA FID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03F2F-7060-4D27-A6A4-6B198B84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BASE OBSERVADA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AD0BE-572E-4348-9F0B-78533879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F8CDF-D26F-44AB-A1B2-D163D537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01ECE-5B24-4B38-BD8E-562C7717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O histórico completo é maior — e mais exigente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1A813-9A79-4A67-8DD9-269B1208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O CLI representa a maior parte da amostra e inclui testes, retries e fallbacks.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8DF29-8340-4A0D-AAFE-9E34BD85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76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D1F19-58D5-4A9F-AE32-B88F2BD1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turnos auditados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19108-2B40-42F4-AE6A-0B2D1FC0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3,1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30019-0623-420B-84D0-E3DE5653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05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tokens processados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B4E01-EFEE-440F-BA1E-BFC42020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57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473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E88C0-150B-481B-95D0-7E3BAC81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05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chamadas aos modelos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C76A9-EDD5-4B87-A993-45562557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574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7B8D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7B8D"/>
                </a:solidFill>
                <a:latin typeface="Aptos"/>
                <a:ea typeface="Aptos"/>
                <a:cs typeface="Aptos"/>
              </a:rPr>
              <a:t>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037B5-9047-4C52-8B7E-0B5B1545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05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chamadas com erro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04CD0-2640-47A2-8139-70C315C8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9906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019"/>
          </a:solidFill>
          <a:ln xmlns:a="http://schemas.openxmlformats.org/drawingml/2006/main" w="9525">
            <a:solidFill>
              <a:srgbClr val="2940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436BD-8448-471B-A286-96E2F608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91249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F9B"/>
          </a:solidFill>
          <a:ln xmlns:a="http://schemas.openxmlformats.org/drawingml/2006/main" w="9525">
            <a:solidFill>
              <a:srgbClr val="42FF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F5CB8-D5C3-4D21-A995-F32AA8E7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92% CLI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1CE2B-8985-4C64-9AE0-BC373868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70 turnos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D7DF4-EA3B-4063-96E1-D174970C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8% Hub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1E167E-329E-45E7-A0E2-64534F3D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9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6 turnos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EAD57-EF0B-4518-8AF5-47F6F299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Leitura executiva: </a:t>
            </a:r>
            <a:r>
              <a:rPr sz="1500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a média de 40,9 mil tokens por pergunta funciona como referência conservadora, não como uso cotidiano.</a:t>
            </a:r>
          </a:p>
        </p:txBody>
      </p:sp>
    </p:spTree>
    <p:extLst>
      <p:ext uri="{BB962C8B-B14F-4D97-AF65-F5344CB8AC3E}">
        <p14:creationId xmlns:p14="http://schemas.microsoft.com/office/powerpoint/2010/main" val="3940906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EE455-946B-4B33-AD42-2D23DC5A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2A55C-A411-4755-99BF-971261BE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NEXUS  //  INTELIGÊNCIA FID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211D2-93D8-48D6-8072-0B1962B0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DEMANDA MENSAL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EE6B1-292C-4EC6-A792-6400FB2B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AF7BB-461D-44D8-8E1C-041B0516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88A21-EB0C-47B5-ACD8-62D71866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O piloto projeta 1.980 solicitações por mês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CB04F-38F6-4145-804C-9E5939D0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Três solicitações por usuário, por dia útil, para 30 colaboradores.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4857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8ca5f2769b4b1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A8CC0-5052-4565-9431-D69C7180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431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990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F414A-C7F4-46EC-BA7F-BD8CE784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pesquisas e correções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892BE-336B-40DB-AC95-B5EABB32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24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0C978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20C978"/>
                </a:solidFill>
                <a:latin typeface="Aptos"/>
                <a:ea typeface="Aptos"/>
                <a:cs typeface="Aptos"/>
              </a:rPr>
              <a:t>693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70637-8573-4CFB-9E13-4D65AE9A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consultas com dados internos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15557-0CEB-4472-B8DE-2BE94F89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C66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5C66B"/>
                </a:solidFill>
                <a:latin typeface="Aptos"/>
                <a:ea typeface="Aptos"/>
                <a:cs typeface="Aptos"/>
              </a:rPr>
              <a:t>297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62E7E-79F7-4E8C-B2B8-B76DBF91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530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trabalhos com imagem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F39AC-2CCA-4252-B146-C19A86B1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91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22 dias úteis  •  30 usuários  •  3 solicitações/dia</a:t>
            </a:r>
          </a:p>
        </p:txBody>
      </p:sp>
    </p:spTree>
    <p:extLst>
      <p:ext uri="{BB962C8B-B14F-4D97-AF65-F5344CB8AC3E}">
        <p14:creationId xmlns:p14="http://schemas.microsoft.com/office/powerpoint/2010/main" val="311010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6E63BE-E12B-40FB-B7F9-B6003FA5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92480-4A9A-47F6-91F2-FE2C63C8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NEXUS  //  INTELIGÊNCIA FID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1F3D4-F210-460F-9F7C-49F5039E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ECONOMIA DE TOKENS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71652-AE63-448B-B125-9E7284DB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5E7DA-03CA-4E52-9591-72273BC6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FE1DB-799F-44C4-ADDE-925D2282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As tools são 35% do volume — mas concentram o custo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2A439-5D0E-4D9D-A92C-6E0DBE59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Uma consulta corporativa pode envolver várias chamadas antes da resposta validada.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5A06A-50DC-4398-80E7-31EE0F10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85762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01713"/>
          </a:solidFill>
          <a:ln xmlns:a="http://schemas.openxmlformats.org/drawingml/2006/main" w="9525">
            <a:solidFill>
              <a:srgbClr val="2940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FD460-EC03-4CDF-995E-6F6909F6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309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34E3A-EF92-4058-B1C8-CDF18D56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das solicitações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6E42F-A875-4C12-9392-F15DBA89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D4253-979F-4486-80D6-25F54134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≈ 40,9 mil tokens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3FCFC-EB81-40F6-AF7B-A80AFBE5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por pergunta pesada observada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7A04E-B45D-46BF-9A63-87B5E7F9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860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3D2A"/>
          </a:solidFill>
          <a:ln xmlns:a="http://schemas.openxmlformats.org/drawingml/2006/main" w="9525">
            <a:solidFill>
              <a:srgbClr val="42FF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EAB39-84A2-4BB8-93B0-554F7FB0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62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9DF75-9B20-47A2-B1A7-C80AE38C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Entender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53843-B87B-4F21-83AA-DBBC94AD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interpreta intenção e contexto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9A87A-9210-4329-989D-3F5369A9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A49E80-21F6-4702-B159-433EC614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5277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3D2A"/>
          </a:solidFill>
          <a:ln xmlns:a="http://schemas.openxmlformats.org/drawingml/2006/main" w="9525">
            <a:solidFill>
              <a:srgbClr val="42FF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BD13A-74B4-4E87-97C4-0FCCA1B0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289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E83E7-1B8D-4B8D-98EF-DEFD1547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337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Consultar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50B9A-5171-4EE0-9354-D4088945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executa tools autorizadas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3B6D4-5ED7-4B99-BEF8-3C09CAF4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48075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F0D2A-7B43-42EC-B28C-5744BB46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195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3D2A"/>
          </a:solidFill>
          <a:ln xmlns:a="http://schemas.openxmlformats.org/drawingml/2006/main" w="9525">
            <a:solidFill>
              <a:srgbClr val="42FF9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15EAB-A6DD-40EE-811F-2E5C538C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95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A83A6F-7A51-4ED8-8F58-144D31D0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Validar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6EBDA4-3A95-4476-830B-DCD6B33C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338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confere evidências e cobertura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16C138-6D75-437D-8D46-37F5B53D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1485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A141D5-C0DF-43D7-ADB9-8C11AF4C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86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3D2A"/>
          </a:solidFill>
          <a:ln xmlns:a="http://schemas.openxmlformats.org/drawingml/2006/main" w="9525">
            <a:solidFill>
              <a:srgbClr val="42FF9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03E0E-2389-4F6C-88DE-B53A290A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625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667E72-7ABF-408A-9318-1A0D0756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67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F2E415-53BF-4467-81A9-473D10C5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006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sintetiza ou aciona fallback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DAEEFA-BB65-492A-9C83-EF14DD81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7531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C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C66B"/>
                </a:solidFill>
                <a:latin typeface="Aptos"/>
                <a:ea typeface="Aptos"/>
                <a:cs typeface="Aptos"/>
              </a:rPr>
              <a:t>Retries e rotas incorretas ampliam esse percurso — as correções recentes atacam exatamente esse desperdício.</a:t>
            </a:r>
          </a:p>
        </p:txBody>
      </p:sp>
    </p:spTree>
    <p:extLst>
      <p:ext uri="{BB962C8B-B14F-4D97-AF65-F5344CB8AC3E}">
        <p14:creationId xmlns:p14="http://schemas.microsoft.com/office/powerpoint/2010/main" val="222169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F8CC7-98BE-49E6-9896-1A798497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10A39-3B88-4ECA-8825-56985CFF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NEXUS  //  INTELIGÊNCIA FID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D0FBA-7AF7-4246-997F-3CE7E870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CUSTO MENSAL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5C5CD-4EF2-4BF3-BD0B-5290BC1F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BC639-E4D0-41EB-AB04-5ED3FE81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A65A5-B9A7-471B-9086-EC440510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O modelo híbrido reduz custo e preserva Claude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07276-8D41-4BDA-A068-A199CFCA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Estimativa para 1.980 solicitações mensais e preços posteriores a agosto.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4888e9fe8f41c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D5DB7-C902-484D-925D-31AEFB5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713"/>
          </a:solidFill>
          <a:ln xmlns:a="http://schemas.openxmlformats.org/drawingml/2006/main" w="9525">
            <a:solidFill>
              <a:srgbClr val="2940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6E1AD-494A-49A4-B3E0-3CCF198F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R$ 169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88D20-8477-4129-A872-DDD70530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economia mensal</a:t>
            </a:r>
          </a:p>
          <a:p xmlns:a="http://schemas.openxmlformats.org/drawingml/2006/main">
            <a:pPr algn="ctr">
              <a:defRPr sz="157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no cenário provável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7A0F2-7714-4A37-8DF5-4500B9B8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≈ 23% menos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5A0DB-D696-4AF1-B644-DECD6B5C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958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No cenário pessimista, a diferença aumenta porque tokens simples permanecem no modelo mais barato.</a:t>
            </a:r>
          </a:p>
        </p:txBody>
      </p:sp>
    </p:spTree>
    <p:extLst>
      <p:ext uri="{BB962C8B-B14F-4D97-AF65-F5344CB8AC3E}">
        <p14:creationId xmlns:p14="http://schemas.microsoft.com/office/powerpoint/2010/main" val="652576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8C9B6-58A2-4F3F-A533-78BCB623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48240-1157-4C27-A6B8-C249D900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NEXUS  //  INTELIGÊNCIA FID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275F2-D818-4A8A-8B6A-DA041B9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TESTE DE ESTRESSE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0B954-6B35-4379-BD8B-85B9AEEC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14502-7AEA-40AF-B7E9-5E58B5A1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05AD0-5DBB-47A5-AB79-94035D60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No pior cenário, a economia chega a R$ 2,25 mil/mês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A14EC-8664-4D41-8293-309DCDD7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Dez solicitações por usuário/dia, todas pesadas e com fallback frequente.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5DE34-DED7-43B1-B65C-03EA20B9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476625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1713"/>
          </a:solidFill>
          <a:ln xmlns:a="http://schemas.openxmlformats.org/drawingml/2006/main" w="9525">
            <a:solidFill>
              <a:srgbClr val="2940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EE6FB-964B-45D2-A426-56AC13A2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574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HIPÓTESES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2BBC2-1849-4FFC-B456-51FE6327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266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•"/>
              <a:defRPr sz="1500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6.600 solicitações/mês</a:t>
            </a:r>
          </a:p>
          <a:p xmlns:a="http://schemas.openxmlformats.org/drawingml/2006/main">
            <a:pPr marL="22" indent="-12" algn="l">
              <a:buChar char="•"/>
              <a:defRPr sz="1500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40,9 mil tokens por turno</a:t>
            </a:r>
          </a:p>
          <a:p xmlns:a="http://schemas.openxmlformats.org/drawingml/2006/main">
            <a:pPr marL="22" indent="-12" algn="l">
              <a:buChar char="•"/>
              <a:defRPr sz="1500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3 buscas por pesquisa</a:t>
            </a:r>
          </a:p>
          <a:p xmlns:a="http://schemas.openxmlformats.org/drawingml/2006/main">
            <a:pPr marL="22" indent="-12" algn="l">
              <a:buChar char="•"/>
              <a:defRPr sz="1500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≈ 300 imagens geradas</a:t>
            </a:r>
          </a:p>
          <a:p xmlns:a="http://schemas.openxmlformats.org/drawingml/2006/main">
            <a:pPr marL="22" indent="-12" algn="l">
              <a:buChar char="•"/>
              <a:defRPr sz="1500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30% de fallback ao Claude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714875" y="2247900"/>
          <a:ext xmlns:a="http://schemas.openxmlformats.org/drawingml/2006/main" cx="6381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baefb6f39c47bd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B22E8-D564-4E4E-A5B5-A8B98729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81025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C6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C66B"/>
                </a:solidFill>
                <a:latin typeface="Aptos"/>
                <a:ea typeface="Aptos"/>
                <a:cs typeface="Aptos"/>
              </a:rPr>
              <a:t>Faixa estimada: híbrido R$ 3,1–3,3 mil  •  Claude R$ 5,4–5,6 mil</a:t>
            </a:r>
          </a:p>
        </p:txBody>
      </p:sp>
    </p:spTree>
    <p:extLst>
      <p:ext uri="{BB962C8B-B14F-4D97-AF65-F5344CB8AC3E}">
        <p14:creationId xmlns:p14="http://schemas.microsoft.com/office/powerpoint/2010/main" val="7202140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821BA-DFBD-4DAC-A445-3E4FF2EB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CF0CB-3A26-482C-849E-7769A08F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NEXUS  //  INTELIGÊNCIA FID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BB2CB-1E12-424C-B132-C2C803F8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COMPOSIÇÃO RECOMENDADA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6CF76-3B95-482C-930C-821E120A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85BB7-E01E-41C1-8661-825F06C4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B8075-29EC-451E-9335-2A3761A1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2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Cada modelo deve trabalhar onde entrega melhor relação custo–risco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21C56-B941-4308-BBC1-312DFF1B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O roteador e a governança continuam decidindo quando elevar a capacidade.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F9801-5949-4E35-A125-36D299DF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5280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2F7DB-B24F-465D-A1AE-5532C256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5280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57DF9-4161-42F4-A0E0-9B9A605D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956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91F8B-D085-4BDD-BD91-605341F5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956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AA05D-AB4F-4E15-B13B-DDC55889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952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01713"/>
          </a:solidFill>
          <a:ln xmlns:a="http://schemas.openxmlformats.org/drawingml/2006/main" w="9525">
            <a:solidFill>
              <a:srgbClr val="2940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D3AF0-058C-4DC1-9B31-29E8E257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33625"/>
            <a:ext cx="2762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23D2A"/>
          </a:solidFill>
          <a:ln xmlns:a="http://schemas.openxmlformats.org/drawingml/2006/main" w="9525">
            <a:solidFill>
              <a:srgbClr val="42FF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DFB43-C52A-4FA4-A0C4-4D24FD0D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952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01713"/>
          </a:solidFill>
          <a:ln xmlns:a="http://schemas.openxmlformats.org/drawingml/2006/main" w="9525">
            <a:solidFill>
              <a:srgbClr val="2940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5E7C3-73E0-424F-972F-21F678BE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9BF99-9430-4586-AB7D-24A32E8B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Volume e multimodalidade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08639-2175-408E-BFDF-E865CD7F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Conversas simples</a:t>
            </a:r>
          </a:p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Correções e adaptações</a:t>
            </a:r>
          </a:p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Pesquisa web</a:t>
            </a:r>
          </a:p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Análise e geração de imagens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35736-DE11-4D6F-BF73-E446DA58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670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NEXUS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46B57-87CE-4213-BA9C-CBDC9690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Governança e evidência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237C9-B8BA-4BB6-869C-3EEBD516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71875"/>
            <a:ext cx="200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E8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E8D8"/>
                </a:solidFill>
                <a:latin typeface="Aptos"/>
                <a:ea typeface="Aptos"/>
                <a:cs typeface="Aptos"/>
              </a:rPr>
              <a:t>Classifica a fonte</a:t>
            </a:r>
          </a:p>
          <a:p xmlns:a="http://schemas.openxmlformats.org/drawingml/2006/main">
            <a:pPr algn="l">
              <a:defRPr sz="1275" b="0">
                <a:solidFill>
                  <a:srgbClr val="CBE8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E8D8"/>
                </a:solidFill>
                <a:latin typeface="Aptos"/>
                <a:ea typeface="Aptos"/>
                <a:cs typeface="Aptos"/>
              </a:rPr>
              <a:t>Autoriza capabilities</a:t>
            </a:r>
          </a:p>
          <a:p xmlns:a="http://schemas.openxmlformats.org/drawingml/2006/main">
            <a:pPr algn="l">
              <a:defRPr sz="1275" b="0">
                <a:solidFill>
                  <a:srgbClr val="CBE8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E8D8"/>
                </a:solidFill>
                <a:latin typeface="Aptos"/>
                <a:ea typeface="Aptos"/>
                <a:cs typeface="Aptos"/>
              </a:rPr>
              <a:t>Audita custo e conteúdo</a:t>
            </a:r>
          </a:p>
          <a:p xmlns:a="http://schemas.openxmlformats.org/drawingml/2006/main">
            <a:pPr algn="l">
              <a:defRPr sz="1275" b="0">
                <a:solidFill>
                  <a:srgbClr val="CBE8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E8D8"/>
                </a:solidFill>
                <a:latin typeface="Aptos"/>
                <a:ea typeface="Aptos"/>
                <a:cs typeface="Aptos"/>
              </a:rPr>
              <a:t>Decide elevação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2D65D-B06F-40E2-94EA-7381DE50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67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CLAUDE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64A1D-2B6D-4065-8BFE-0795CCB6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Qualidade e criticidade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F6DC8-52EE-49D0-B4D0-77E09C2B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71875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Tools corporativas</a:t>
            </a:r>
          </a:p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Sínteses complexas</a:t>
            </a:r>
          </a:p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Decisões críticas</a:t>
            </a:r>
          </a:p>
          <a:p xmlns:a="http://schemas.openxmlformats.org/drawingml/2006/main">
            <a:pPr algn="l">
              <a:defRPr sz="12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Fallback de qualidade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A27E9-0BEF-4E95-8373-B6414914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340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Resultado: </a:t>
            </a:r>
            <a:r>
              <a:rPr sz="157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o modelo barato absorve volume; Claude permanece como autoridade de qualidade, não como padrão para toda mensagem.</a:t>
            </a:r>
          </a:p>
        </p:txBody>
      </p:sp>
    </p:spTree>
    <p:extLst>
      <p:ext uri="{BB962C8B-B14F-4D97-AF65-F5344CB8AC3E}">
        <p14:creationId xmlns:p14="http://schemas.microsoft.com/office/powerpoint/2010/main" val="1648453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88050-8D57-4445-A793-3315D603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6D960-B61F-42B1-A567-EC2C0446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NEXUS  //  INTELIGÊNCIA FID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3965D-DC64-413D-B052-86011C03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INFRAESTRUTURA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CE5E0-EEFF-487D-912F-28564DE6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1DAA7-89C5-4782-84E9-730E55A6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820F8-03A9-473E-81E4-2D03E850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92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Ollama não se paga no piloto — mas pode se pagar em alto volume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3CB1A-A4F8-4EF2-91E1-2A19C1C5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O ponto de decisão depende de uso sustentado, qualidade e custo operacional completo.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71500" y="2143125"/>
          <a:ext xmlns:a="http://schemas.openxmlformats.org/drawingml/2006/main" cx="6858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2f71e673ca444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8ACF7-CBAB-477D-BF03-9D80EC4D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1713"/>
          </a:solidFill>
          <a:ln xmlns:a="http://schemas.openxmlformats.org/drawingml/2006/main" w="9525">
            <a:solidFill>
              <a:srgbClr val="2940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1D05A-77CD-4691-A8E5-FFDE5B82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47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SERVIDOR RTX 5090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31C50-55D3-4BB0-A1AD-FDACF10D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R$ 35–50 mil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31E67-6EB9-4C2B-B199-37989363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385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investimento estimado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881A7-FBEA-44DD-992B-AD813B84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C66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C66B"/>
                </a:solidFill>
                <a:latin typeface="Aptos"/>
                <a:ea typeface="Aptos"/>
                <a:cs typeface="Aptos"/>
              </a:rPr>
              <a:t>R$ 1.120–1.690/mês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9D2AE-DA14-4947-8DD3-1DE4E6E9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005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depreciação + energia</a:t>
            </a:r>
          </a:p>
          <a:p xmlns:a="http://schemas.openxmlformats.org/drawingml/2006/main">
            <a:pPr algn="l">
              <a:defRPr sz="1200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sem manutenção e suporte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78EBA-DD6C-4AA7-A7AC-EE57B902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Gatilho recomendado: avaliar piloto local apenas após 3 meses acima de R$ 2–2,5 mil/mês.</a:t>
            </a:r>
          </a:p>
        </p:txBody>
      </p:sp>
    </p:spTree>
    <p:extLst>
      <p:ext uri="{BB962C8B-B14F-4D97-AF65-F5344CB8AC3E}">
        <p14:creationId xmlns:p14="http://schemas.microsoft.com/office/powerpoint/2010/main" val="2041953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BD92FC-AA80-497A-B750-134E5C0E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9D42C-E893-4C7A-80A7-8DD0A4B9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NEXUS  //  INTELIGÊNCIA FID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DF136-BEB8-4D22-9D38-5F844B4D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DECISÃO PROPOSTA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F3FEB-2266-4FFB-836B-00E62E82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4D04B-2AF0-4097-B78A-11C37D33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69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65E07-6DDF-48A8-8754-C0E11608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62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Começar híbrido, medir por três meses e preservar a opção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992CA-6B62-4A87-8238-82BE8BC0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A decisão agora é aprovar um piloto controlado — não comprar infraestrutura.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F58DE-CF8A-48CD-BC8F-C8659A83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DB5E5-FBE8-4F9C-98CA-ECBF44F8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145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Ativar a composição híbrida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AA184-3061-474B-BE81-9BC4C47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Gemini pago para volume; Claude para dados internos, criticidade e fallback.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085DB-9B11-4A2E-9B26-41CFB138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C1129-BF36-4434-8126-38828DD3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04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DED39-1648-4F3E-97B4-BA19D0B1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813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Operar com orçamento visível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5F90A-1150-44D7-BA5D-0A94EC27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00475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Reserva inicial de R$ 1.000/mês, alerta em R$ 750 e análise de desvios.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BE587-BF4A-41E1-9284-D9C38C19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6725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295A9-9176-4D11-8289-A022ABC4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672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B85F6-8F54-4F98-8255-4A32EBF0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Reavaliar com evidência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1E92F-6F45-4871-9F96-75081D80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67275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9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1A69B"/>
                </a:solidFill>
                <a:latin typeface="Aptos"/>
                <a:ea typeface="Aptos"/>
                <a:cs typeface="Aptos"/>
              </a:rPr>
              <a:t>Testar Ollama somente após três meses acima de R$ 2–2,5 mil e qualidade mensurada.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CD0E5-FB06-4F7F-8895-17517403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3D2A"/>
          </a:solidFill>
          <a:ln xmlns:a="http://schemas.openxmlformats.org/drawingml/2006/main" w="9525">
            <a:solidFill>
              <a:srgbClr val="42FF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8AFEF-D2D7-48C9-A1C3-393F8EF7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PILOTO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2B7C0-79F5-4853-80F7-6B0E0F3A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575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R$ 1.000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CAF7A-62DB-4539-8B0A-53656A9C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81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E8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E8D8"/>
                </a:solidFill>
                <a:latin typeface="Aptos"/>
                <a:ea typeface="Aptos"/>
                <a:cs typeface="Aptos"/>
              </a:rPr>
              <a:t>orçamento mensal inicial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1A524-51D5-4D84-969C-D0673962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5770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6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0CA132-2AAA-4AE3-BE37-D52334B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67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C6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C66B"/>
                </a:solidFill>
                <a:latin typeface="Aptos"/>
                <a:ea typeface="Aptos"/>
                <a:cs typeface="Aptos"/>
              </a:rPr>
              <a:t>Alerta em R$ 750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84A8D7-CA70-433F-ADDD-9BFBA817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055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2FF9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FF9B"/>
                </a:solidFill>
                <a:latin typeface="Aptos"/>
                <a:ea typeface="Aptos"/>
                <a:cs typeface="Aptos"/>
              </a:rPr>
              <a:t>Decisão solicitada: aprovar o piloto Anthropic + Gemini com governança e auditoria já existentes.</a:t>
            </a:r>
          </a:p>
        </p:txBody>
      </p:sp>
    </p:spTree>
    <p:extLst>
      <p:ext uri="{BB962C8B-B14F-4D97-AF65-F5344CB8AC3E}">
        <p14:creationId xmlns:p14="http://schemas.microsoft.com/office/powerpoint/2010/main" val="745893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2026-08-25T13:35:51.4240000Z</dcterms:created>
  <dcterms:modified xsi:type="dcterms:W3CDTF">2026-08-25T13:35:51.4240000Z</dcterms:modified>
</coreProperties>
</file>